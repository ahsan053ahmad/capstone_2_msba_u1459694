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Amatic SC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LLoE2vLU2U+Q3t6HXsdi0uNMa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7.xml"/><Relationship Id="rId22" Type="http://schemas.openxmlformats.org/officeDocument/2006/relationships/font" Target="fonts/AmaticSC-bold.fntdata"/><Relationship Id="rId10" Type="http://schemas.openxmlformats.org/officeDocument/2006/relationships/slide" Target="slides/slide6.xml"/><Relationship Id="rId21" Type="http://schemas.openxmlformats.org/officeDocument/2006/relationships/font" Target="fonts/AmaticSC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Roboto-italic.fntdata"/><Relationship Id="rId6" Type="http://schemas.openxmlformats.org/officeDocument/2006/relationships/slide" Target="slides/slide2.xml"/><Relationship Id="rId18" Type="http://schemas.openxmlformats.org/officeDocument/2006/relationships/font" Target="fonts/Robo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What happens when production stops unexpectedly?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At Swire Coca-Cola, unplanned machinery breakdowns halt production, delaying your ability to meet demand. It disrupts operations and lowers output.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This slide represents the impact of mechanical failures across our facilities. It’s a constant battle to keep everything running smoothly.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 need a solution that allows us to stay ahead of these breakdowns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Right now, we’re achieving 94.4% of our target output. That gap may not sound large, but for us, it means we’re leaving potential on the table.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Downtime not only affects production but also strains resources, creates inefficiencies, and puts additional pressure on our teams, and is costing Swire $60M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But, obviously we all know this, the question is, how can we make sure we hit 100%?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5f8f27d68_0_2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15f8f27d68_0_2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15f8f27d68_0_2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5f8f27d68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15f8f27d68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analyzing data from the machines, we can predict when a breakdown is likely to occur. This allows us to prevent failures through scheduled maintenance and ensures optimal performance. This isn’t just a plan; it’s a proactive step toward transforming our operations.</a:t>
            </a:r>
            <a:endParaRPr/>
          </a:p>
        </p:txBody>
      </p:sp>
      <p:sp>
        <p:nvSpPr>
          <p:cNvPr id="126" name="Google Shape;126;g315f8f27d68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average planned downtimes are less than unplanned downtimes</a:t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16595aa182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16595aa182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16595aa182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6595aa182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16595aa182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16595aa182_1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/>
        </p:nvSpPr>
        <p:spPr>
          <a:xfrm>
            <a:off x="3117860" y="4057015"/>
            <a:ext cx="59562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Predicting </a:t>
            </a:r>
            <a:r>
              <a:rPr lang="en-US" sz="4400">
                <a:solidFill>
                  <a:srgbClr val="F3F3F3"/>
                </a:solidFill>
              </a:rPr>
              <a:t>Machinery Downtime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82549" y="5782194"/>
            <a:ext cx="1202690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Ahsan Ahm</a:t>
            </a:r>
            <a:r>
              <a:rPr lang="en-US" sz="2800">
                <a:solidFill>
                  <a:schemeClr val="lt1"/>
                </a:solidFill>
              </a:rPr>
              <a:t>a</a:t>
            </a: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     </a:t>
            </a:r>
            <a:r>
              <a:rPr lang="en-US" sz="2800">
                <a:solidFill>
                  <a:schemeClr val="lt1"/>
                </a:solidFill>
              </a:rPr>
              <a:t>Charlie Vandel</a:t>
            </a: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Scott Silverstein     Rylan Tribush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8363" y="813538"/>
            <a:ext cx="7915275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76" y="1539575"/>
            <a:ext cx="6096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696900" y="257334"/>
            <a:ext cx="1079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</a:rPr>
              <a:t>       Business Problem 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4625625" y="1158275"/>
            <a:ext cx="62016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Downtime Costs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:Red Silhouette - Gear and Tools.svg - Wikimedia Commons" id="103" name="Google Shape;10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3925" y="2063563"/>
            <a:ext cx="2973276" cy="297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7186125" y="5036850"/>
            <a:ext cx="4308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Machines fail unexpectedly. Output drops. Deadlines missed.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8695550" y="5627500"/>
            <a:ext cx="3527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/>
        </p:nvSpPr>
        <p:spPr>
          <a:xfrm>
            <a:off x="415082" y="448688"/>
            <a:ext cx="10222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</a:rPr>
              <a:t>IMPACT 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4342575" y="1156700"/>
            <a:ext cx="4461300" cy="70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Efficiency Matters.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:Money Flat Icon.svg - Wikimedia Commons" id="112" name="Google Shape;11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8750" y="4174563"/>
            <a:ext cx="3102825" cy="310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9563" y="1977500"/>
            <a:ext cx="10512882" cy="234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7036800" y="4694025"/>
            <a:ext cx="5386800" cy="14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rPr>
              <a:t>-$60M</a:t>
            </a:r>
            <a:endParaRPr sz="11000">
              <a:solidFill>
                <a:schemeClr val="lt1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three metal gears against a black background (Provided by Tenor)" id="120" name="Google Shape;120;g315f8f27d68_0_2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2575" y="3031050"/>
            <a:ext cx="474345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15f8f27d68_0_243"/>
          <p:cNvSpPr txBox="1"/>
          <p:nvPr/>
        </p:nvSpPr>
        <p:spPr>
          <a:xfrm>
            <a:off x="1735675" y="1083725"/>
            <a:ext cx="85512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success looks like </a:t>
            </a:r>
            <a:endParaRPr sz="4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15f8f27d68_0_243"/>
          <p:cNvSpPr txBox="1"/>
          <p:nvPr/>
        </p:nvSpPr>
        <p:spPr>
          <a:xfrm>
            <a:off x="6481225" y="2777075"/>
            <a:ext cx="47436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Char char="-"/>
            </a:pP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Reliable: Machines running consistently without unexpected stoppages.</a:t>
            </a: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Char char="-"/>
            </a:pP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Efficient: Maximized output with minimal delays.</a:t>
            </a: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Char char="-"/>
            </a:pP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Scalable: A solution that grows with your production needs.</a:t>
            </a: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g315f8f27d68_0_27"/>
          <p:cNvGrpSpPr/>
          <p:nvPr/>
        </p:nvGrpSpPr>
        <p:grpSpPr>
          <a:xfrm>
            <a:off x="3701150" y="2147219"/>
            <a:ext cx="4582766" cy="3868346"/>
            <a:chOff x="2820225" y="891450"/>
            <a:chExt cx="3175200" cy="3175200"/>
          </a:xfrm>
        </p:grpSpPr>
        <p:sp>
          <p:nvSpPr>
            <p:cNvPr id="129" name="Google Shape;129;g315f8f27d68_0_27"/>
            <p:cNvSpPr/>
            <p:nvPr/>
          </p:nvSpPr>
          <p:spPr>
            <a:xfrm rot="10800000">
              <a:off x="2820225" y="891450"/>
              <a:ext cx="3175200" cy="3175200"/>
            </a:xfrm>
            <a:prstGeom prst="blockArc">
              <a:avLst>
                <a:gd fmla="val 5399801" name="adj1"/>
                <a:gd fmla="val 3012680" name="adj2"/>
                <a:gd fmla="val 6939" name="adj3"/>
              </a:avLst>
            </a:prstGeom>
            <a:solidFill>
              <a:srgbClr val="83E3DA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g315f8f27d68_0_27"/>
            <p:cNvSpPr/>
            <p:nvPr/>
          </p:nvSpPr>
          <p:spPr>
            <a:xfrm rot="10800000">
              <a:off x="3175023" y="1179900"/>
              <a:ext cx="450600" cy="450600"/>
            </a:xfrm>
            <a:prstGeom prst="rtTriangle">
              <a:avLst/>
            </a:prstGeom>
            <a:solidFill>
              <a:srgbClr val="83E3DA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" name="Google Shape;131;g315f8f27d68_0_27"/>
          <p:cNvGrpSpPr/>
          <p:nvPr/>
        </p:nvGrpSpPr>
        <p:grpSpPr>
          <a:xfrm>
            <a:off x="7971150" y="3023690"/>
            <a:ext cx="2696850" cy="1929111"/>
            <a:chOff x="5130371" y="2422675"/>
            <a:chExt cx="1332304" cy="1101908"/>
          </a:xfrm>
        </p:grpSpPr>
        <p:sp>
          <p:nvSpPr>
            <p:cNvPr id="132" name="Google Shape;132;g315f8f27d68_0_27"/>
            <p:cNvSpPr/>
            <p:nvPr/>
          </p:nvSpPr>
          <p:spPr>
            <a:xfrm>
              <a:off x="5130371" y="2707683"/>
              <a:ext cx="1332300" cy="8169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Understand the factors that contribute to frequent breakdowns.</a:t>
              </a:r>
              <a:endParaRPr sz="1600">
                <a:solidFill>
                  <a:srgbClr val="FFFFFF"/>
                </a:solidFill>
              </a:endParaRPr>
            </a:p>
          </p:txBody>
        </p:sp>
        <p:sp>
          <p:nvSpPr>
            <p:cNvPr id="133" name="Google Shape;133;g315f8f27d68_0_27"/>
            <p:cNvSpPr/>
            <p:nvPr/>
          </p:nvSpPr>
          <p:spPr>
            <a:xfrm>
              <a:off x="5130375" y="2422675"/>
              <a:ext cx="1332300" cy="285000"/>
            </a:xfrm>
            <a:prstGeom prst="round1Rect">
              <a:avLst>
                <a:gd fmla="val 50000" name="adj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Analyze Patterns</a:t>
              </a:r>
              <a:endParaRPr sz="2000">
                <a:solidFill>
                  <a:srgbClr val="FFFFFF"/>
                </a:solidFill>
              </a:endParaRPr>
            </a:p>
          </p:txBody>
        </p:sp>
      </p:grpSp>
      <p:grpSp>
        <p:nvGrpSpPr>
          <p:cNvPr id="134" name="Google Shape;134;g315f8f27d68_0_27"/>
          <p:cNvGrpSpPr/>
          <p:nvPr/>
        </p:nvGrpSpPr>
        <p:grpSpPr>
          <a:xfrm>
            <a:off x="4513375" y="666317"/>
            <a:ext cx="2784786" cy="2004698"/>
            <a:chOff x="3652108" y="602467"/>
            <a:chExt cx="1332306" cy="949194"/>
          </a:xfrm>
        </p:grpSpPr>
        <p:sp>
          <p:nvSpPr>
            <p:cNvPr id="135" name="Google Shape;135;g315f8f27d68_0_27"/>
            <p:cNvSpPr/>
            <p:nvPr/>
          </p:nvSpPr>
          <p:spPr>
            <a:xfrm>
              <a:off x="3652108" y="887461"/>
              <a:ext cx="1332300" cy="6642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</a:rPr>
                <a:t>Gather real-time and historical data from machinery, sensors, and maintenance logs.</a:t>
              </a:r>
              <a:endParaRPr sz="1600">
                <a:solidFill>
                  <a:srgbClr val="FFFFFF"/>
                </a:solidFill>
              </a:endParaRPr>
            </a:p>
          </p:txBody>
        </p:sp>
        <p:sp>
          <p:nvSpPr>
            <p:cNvPr id="136" name="Google Shape;136;g315f8f27d68_0_27"/>
            <p:cNvSpPr/>
            <p:nvPr/>
          </p:nvSpPr>
          <p:spPr>
            <a:xfrm>
              <a:off x="3652114" y="602467"/>
              <a:ext cx="1332300" cy="285000"/>
            </a:xfrm>
            <a:prstGeom prst="round1Rect">
              <a:avLst>
                <a:gd fmla="val 50000" name="adj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Collect Data </a:t>
              </a:r>
              <a:endParaRPr sz="2000">
                <a:solidFill>
                  <a:srgbClr val="FFFFFF"/>
                </a:solidFill>
              </a:endParaRPr>
            </a:p>
          </p:txBody>
        </p:sp>
      </p:grpSp>
      <p:grpSp>
        <p:nvGrpSpPr>
          <p:cNvPr id="137" name="Google Shape;137;g315f8f27d68_0_27"/>
          <p:cNvGrpSpPr/>
          <p:nvPr/>
        </p:nvGrpSpPr>
        <p:grpSpPr>
          <a:xfrm>
            <a:off x="1317075" y="2917840"/>
            <a:ext cx="2696842" cy="1601365"/>
            <a:chOff x="2465775" y="2422675"/>
            <a:chExt cx="1332300" cy="914700"/>
          </a:xfrm>
        </p:grpSpPr>
        <p:sp>
          <p:nvSpPr>
            <p:cNvPr id="138" name="Google Shape;138;g315f8f27d68_0_27"/>
            <p:cNvSpPr/>
            <p:nvPr/>
          </p:nvSpPr>
          <p:spPr>
            <a:xfrm>
              <a:off x="2465775" y="2707675"/>
              <a:ext cx="1332300" cy="6297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Schedule</a:t>
              </a:r>
              <a:r>
                <a:rPr lang="en-US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proactive repairs. </a:t>
              </a:r>
              <a:endParaRPr sz="1600">
                <a:solidFill>
                  <a:srgbClr val="FFFFFF"/>
                </a:solidFill>
              </a:endParaRPr>
            </a:p>
          </p:txBody>
        </p:sp>
        <p:sp>
          <p:nvSpPr>
            <p:cNvPr id="139" name="Google Shape;139;g315f8f27d68_0_27"/>
            <p:cNvSpPr/>
            <p:nvPr/>
          </p:nvSpPr>
          <p:spPr>
            <a:xfrm>
              <a:off x="2465775" y="2422675"/>
              <a:ext cx="1332300" cy="285000"/>
            </a:xfrm>
            <a:prstGeom prst="round1Rect">
              <a:avLst>
                <a:gd fmla="val 50000" name="adj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Plan Maintenance </a:t>
              </a:r>
              <a:endParaRPr sz="2000">
                <a:solidFill>
                  <a:srgbClr val="FFFFFF"/>
                </a:solidFill>
              </a:endParaRPr>
            </a:p>
          </p:txBody>
        </p:sp>
      </p:grpSp>
      <p:grpSp>
        <p:nvGrpSpPr>
          <p:cNvPr id="140" name="Google Shape;140;g315f8f27d68_0_27"/>
          <p:cNvGrpSpPr/>
          <p:nvPr/>
        </p:nvGrpSpPr>
        <p:grpSpPr>
          <a:xfrm>
            <a:off x="4513370" y="4702572"/>
            <a:ext cx="2784773" cy="1842114"/>
            <a:chOff x="5130375" y="2422675"/>
            <a:chExt cx="1332300" cy="914700"/>
          </a:xfrm>
        </p:grpSpPr>
        <p:sp>
          <p:nvSpPr>
            <p:cNvPr id="141" name="Google Shape;141;g315f8f27d68_0_27"/>
            <p:cNvSpPr/>
            <p:nvPr/>
          </p:nvSpPr>
          <p:spPr>
            <a:xfrm>
              <a:off x="5130375" y="2707675"/>
              <a:ext cx="1332300" cy="6297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</a:rPr>
                <a:t>Leverage machine learning models and survival analysis to forecast potential downtimes</a:t>
              </a:r>
              <a:endParaRPr sz="1600">
                <a:solidFill>
                  <a:srgbClr val="FFFFFF"/>
                </a:solidFill>
              </a:endParaRPr>
            </a:p>
          </p:txBody>
        </p:sp>
        <p:sp>
          <p:nvSpPr>
            <p:cNvPr id="142" name="Google Shape;142;g315f8f27d68_0_27"/>
            <p:cNvSpPr/>
            <p:nvPr/>
          </p:nvSpPr>
          <p:spPr>
            <a:xfrm>
              <a:off x="5130375" y="2422675"/>
              <a:ext cx="1332300" cy="285000"/>
            </a:xfrm>
            <a:prstGeom prst="round1Rect">
              <a:avLst>
                <a:gd fmla="val 50000" name="adj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FFFF"/>
                  </a:solidFill>
                </a:rPr>
                <a:t>Predict Failures</a:t>
              </a:r>
              <a:endParaRPr sz="2000">
                <a:solidFill>
                  <a:srgbClr val="FFFFFF"/>
                </a:solidFill>
              </a:endParaRPr>
            </a:p>
          </p:txBody>
        </p:sp>
      </p:grpSp>
      <p:sp>
        <p:nvSpPr>
          <p:cNvPr id="143" name="Google Shape;143;g315f8f27d68_0_27"/>
          <p:cNvSpPr txBox="1"/>
          <p:nvPr/>
        </p:nvSpPr>
        <p:spPr>
          <a:xfrm>
            <a:off x="131225" y="300575"/>
            <a:ext cx="3069300" cy="11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1" sz="5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/>
        </p:nvSpPr>
        <p:spPr>
          <a:xfrm>
            <a:off x="1536700" y="0"/>
            <a:ext cx="91186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</a:rPr>
              <a:t>Failure types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575" y="469220"/>
            <a:ext cx="10719964" cy="6029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 txBox="1"/>
          <p:nvPr/>
        </p:nvSpPr>
        <p:spPr>
          <a:xfrm>
            <a:off x="1536700" y="0"/>
            <a:ext cx="91186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</a:rPr>
              <a:t>Failure Types Cont.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7939" y="562900"/>
            <a:ext cx="9276126" cy="573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/>
        </p:nvSpPr>
        <p:spPr>
          <a:xfrm>
            <a:off x="88900" y="0"/>
            <a:ext cx="12014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</a:rPr>
              <a:t>Our Solution: </a:t>
            </a:r>
            <a:r>
              <a:rPr b="1" lang="en-US" sz="2800">
                <a:solidFill>
                  <a:schemeClr val="lt1"/>
                </a:solidFill>
              </a:rPr>
              <a:t>Survival Analysis</a:t>
            </a:r>
            <a:endParaRPr b="1" sz="2800">
              <a:solidFill>
                <a:schemeClr val="lt1"/>
              </a:solidFill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0" y="700425"/>
            <a:ext cx="69504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solidFill>
                  <a:schemeClr val="lt1"/>
                </a:solidFill>
              </a:rPr>
              <a:t>A statistical approach to model the time until an event occurs e.g. machine failure</a:t>
            </a:r>
            <a:endParaRPr sz="2400">
              <a:solidFill>
                <a:schemeClr val="lt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solidFill>
                  <a:schemeClr val="lt1"/>
                </a:solidFill>
              </a:rPr>
              <a:t>Improves Maintenance Planning to reduce downtime and cost</a:t>
            </a:r>
            <a:endParaRPr sz="2400">
              <a:solidFill>
                <a:schemeClr val="lt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solidFill>
                  <a:schemeClr val="lt1"/>
                </a:solidFill>
              </a:rPr>
              <a:t>Identifies high risk Equipment that contributes to failure</a:t>
            </a:r>
            <a:endParaRPr sz="24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solidFill>
                  <a:schemeClr val="lt1"/>
                </a:solidFill>
              </a:rPr>
              <a:t>Kaplan-Meier Survival Curve to show survival probability across all 7 years</a:t>
            </a:r>
            <a:endParaRPr sz="2400">
              <a:solidFill>
                <a:schemeClr val="lt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solidFill>
                  <a:schemeClr val="lt1"/>
                </a:solidFill>
              </a:rPr>
              <a:t>p-value</a:t>
            </a:r>
            <a:r>
              <a:rPr lang="en-US" sz="2400">
                <a:solidFill>
                  <a:schemeClr val="lt1"/>
                </a:solidFill>
              </a:rPr>
              <a:t>: &lt;0.</a:t>
            </a:r>
            <a:r>
              <a:rPr lang="en-US" sz="2400">
                <a:solidFill>
                  <a:schemeClr val="lt1"/>
                </a:solidFill>
              </a:rPr>
              <a:t>0001</a:t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0400" y="435071"/>
            <a:ext cx="5152699" cy="2980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0400" y="3510721"/>
            <a:ext cx="5152700" cy="3192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/>
          <p:nvPr/>
        </p:nvSpPr>
        <p:spPr>
          <a:xfrm>
            <a:off x="2298000" y="72525"/>
            <a:ext cx="759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Survival Analysis Across Multiple Granularities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287675" y="595725"/>
            <a:ext cx="65601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</a:rPr>
              <a:t>Survival Analysis at Varying Levels of Detail: </a:t>
            </a:r>
            <a:endParaRPr sz="2400">
              <a:solidFill>
                <a:schemeClr val="lt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</a:rPr>
              <a:t>From Functional Area to Equipment Types to Equipment IDs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</a:rPr>
              <a:t>A total of 2956 Survival Curves were created for each Equipment ID, limited p-value due to the proportion of data available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7775" y="518675"/>
            <a:ext cx="4981817" cy="308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7775" y="3676900"/>
            <a:ext cx="4981824" cy="3111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4750" y="3273825"/>
            <a:ext cx="5507617" cy="339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16595aa182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823645" cy="655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16595aa182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8445" y="152400"/>
            <a:ext cx="5823645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g316595aa182_1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5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>
            <p:ph idx="1" type="body"/>
          </p:nvPr>
        </p:nvSpPr>
        <p:spPr>
          <a:xfrm>
            <a:off x="415600" y="3745566"/>
            <a:ext cx="11360800" cy="8494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396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/>
          </a:p>
        </p:txBody>
      </p:sp>
      <p:pic>
        <p:nvPicPr>
          <p:cNvPr descr="A red circle with a black background&#10;&#10;Description automatically generated" id="191" name="Google Shape;1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8761" y="1131088"/>
            <a:ext cx="2614478" cy="2614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2024-04-14T17:40:26Z</dcterms:created>
  <dc:creator>Raunak Sharma</dc:creator>
</cp:coreProperties>
</file>